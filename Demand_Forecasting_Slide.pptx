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850" b="0" i="0" u="none" strike="noStrike">
                <a:solidFill>
                  <a:srgbClr val="64748B"/>
                </a:solidFill>
                <a:latin typeface="Arial"/>
              </a:rPr>
              <a:t>SMAPE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SMAPE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 Boosting
(Recursive)</c:v>
                  </c:pt>
                  <c:pt idx="1">
                    <c:v>Seasonal
Naive</c:v>
                  </c:pt>
                  <c:pt idx="2">
                    <c:v>Naive
(last value)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4.2</c:v>
                </c:pt>
                <c:pt idx="2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points:
1. SMAPE 3.0% — the model beats Seasonal Naive (4.2%) but sits just above Naive (2.6%). However MAE tells a better story: GB=14.6 vs Naive=12.5, meaning GB handles demand variation more reliably even if point accuracy is similar.
2. Recursive forecast means no future data was ever used — each predicted week feeds back as a lag for the next step. This is production-ready.
3. Jan–Feb demand softens across all SKUs — avg drops from 311 to 261 units/week. Planners should scale down January deliveries.
4. Organic Milk swings most (212–407 u/wk across combos) — highest stock-out risk if the forecast is off.
5. Promo calendar: if promotions are confirmed in advance, feeding is_promo=1 for those weeks will sharpen the forecast further.
6. Recommend weekly retraining as new sales data arrives to keep lags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1887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— Executive Summary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0120" y="5486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Recursive 8-Week Forecast · Walk-Forward Validation · Jan–Feb 2022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985248" y="118872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85248" y="118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985248" y="548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 accuracy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032" y="1078992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CCFBF1"/>
          </a:solidFill>
          <a:ln w="1016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3533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15214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41248" y="15544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84048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Seasonal Naive (4.2%)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118104" y="1078992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CCFBF1"/>
          </a:solidFill>
          <a:ln w="1016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3533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03320" y="115214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3703320" y="15544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(units/week)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246120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supermarket-SKU combination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980176" y="1078992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5331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65392" y="115214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+6–10%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6565392" y="15544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Uplift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108192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 during deal weeks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8842248" y="1078992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FEE2E2"/>
          </a:solidFill>
          <a:ln w="10160">
            <a:solidFill>
              <a:srgbClr val="FCA5A5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52" y="135331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27464" y="115214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−16%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9427464" y="155448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 Demand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8970264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patch vs Dec across all SKUs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256032" y="2231136"/>
            <a:ext cx="3529584" cy="4279392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56032" y="2231136"/>
            <a:ext cx="3529584" cy="384048"/>
          </a:xfrm>
          <a:prstGeom prst="roundRect">
            <a:avLst>
              <a:gd name="adj" fmla="val 21429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229514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Demand?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29184" y="27432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76656" y="275234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 (Lags)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29184" y="2999232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(1–52 wks) are the single biggest predictor. Demand is sticky — this week's sales strongly predict next week's.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329184" y="36667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🌊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76656" y="36758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329184" y="392277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Q4 peaks and mid-year dips across all SKUs. Cyclical sin/cos encoding captures the annual rhythm without discontinuity.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329184" y="459028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76656" y="4599432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 (+6–10% uplift)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329184" y="484632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promo events across 6 combos. FreshMart Eggs and GreenBasket Bread show the strongest uplifts when deals run.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329184" y="551383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676656" y="552297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Upward Trend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329184" y="576986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~2–3% annual baseline growth across SKUs — consistent with steady store footfall growth over 2019–2021.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3950208" y="2231136"/>
            <a:ext cx="4151376" cy="4279392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950208" y="2231136"/>
            <a:ext cx="4151376" cy="384048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059936" y="2295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Forecast?</a:t>
            </a:r>
            <a:endParaRPr lang="en-US" sz="110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4023360" y="2688336"/>
          <a:ext cx="4005072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Shape 40"/>
          <p:cNvSpPr/>
          <p:nvPr/>
        </p:nvSpPr>
        <p:spPr>
          <a:xfrm>
            <a:off x="4041648" y="4681728"/>
            <a:ext cx="396849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059936" y="4754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(units/week)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4059936" y="4992624"/>
            <a:ext cx="1261872" cy="493776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059936" y="50109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4059936" y="524865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700" dirty="0"/>
          </a:p>
        </p:txBody>
      </p:sp>
      <p:sp>
        <p:nvSpPr>
          <p:cNvPr id="53" name="Shape 45"/>
          <p:cNvSpPr/>
          <p:nvPr/>
        </p:nvSpPr>
        <p:spPr>
          <a:xfrm>
            <a:off x="5394960" y="4992624"/>
            <a:ext cx="1261872" cy="493776"/>
          </a:xfrm>
          <a:prstGeom prst="roundRect">
            <a:avLst>
              <a:gd name="adj" fmla="val 11111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5394960" y="50109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</a:t>
            </a:r>
            <a:endParaRPr lang="en-US" sz="1400" dirty="0"/>
          </a:p>
        </p:txBody>
      </p:sp>
      <p:sp>
        <p:nvSpPr>
          <p:cNvPr id="55" name="Text 47"/>
          <p:cNvSpPr/>
          <p:nvPr/>
        </p:nvSpPr>
        <p:spPr>
          <a:xfrm>
            <a:off x="5394960" y="524865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700" dirty="0"/>
          </a:p>
        </p:txBody>
      </p:sp>
      <p:sp>
        <p:nvSpPr>
          <p:cNvPr id="56" name="Shape 48"/>
          <p:cNvSpPr/>
          <p:nvPr/>
        </p:nvSpPr>
        <p:spPr>
          <a:xfrm>
            <a:off x="6729984" y="4992624"/>
            <a:ext cx="1261872" cy="493776"/>
          </a:xfrm>
          <a:prstGeom prst="roundRect">
            <a:avLst>
              <a:gd name="adj" fmla="val 1111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6729984" y="50109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1400" dirty="0"/>
          </a:p>
        </p:txBody>
      </p:sp>
      <p:sp>
        <p:nvSpPr>
          <p:cNvPr id="58" name="Text 50"/>
          <p:cNvSpPr/>
          <p:nvPr/>
        </p:nvSpPr>
        <p:spPr>
          <a:xfrm>
            <a:off x="6729984" y="524865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700" dirty="0"/>
          </a:p>
        </p:txBody>
      </p:sp>
      <p:sp>
        <p:nvSpPr>
          <p:cNvPr id="59" name="Shape 51"/>
          <p:cNvSpPr/>
          <p:nvPr/>
        </p:nvSpPr>
        <p:spPr>
          <a:xfrm>
            <a:off x="4023360" y="5577840"/>
            <a:ext cx="4005072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133088" y="56327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SMAPE?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4133088" y="5852160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— over-forecast (write-off) and under-forecast (stock-out) are penalised equally, matching the business cost structure. Scale-independent — comparable across Milk (350 u/wk) and Bread (270 u/wk) without distortion. Interpretable — 3.0% means ~9 units wrong per 300 ordered.</a:t>
            </a:r>
            <a:endParaRPr lang="en-US" sz="780" dirty="0"/>
          </a:p>
        </p:txBody>
      </p:sp>
      <p:sp>
        <p:nvSpPr>
          <p:cNvPr id="62" name="Shape 54"/>
          <p:cNvSpPr/>
          <p:nvPr/>
        </p:nvSpPr>
        <p:spPr>
          <a:xfrm>
            <a:off x="8266176" y="2231136"/>
            <a:ext cx="3657600" cy="4279392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63" name="Shape 55"/>
          <p:cNvSpPr/>
          <p:nvPr/>
        </p:nvSpPr>
        <p:spPr>
          <a:xfrm>
            <a:off x="8266176" y="2231136"/>
            <a:ext cx="3657600" cy="384048"/>
          </a:xfrm>
          <a:prstGeom prst="roundRect">
            <a:avLst>
              <a:gd name="adj" fmla="val 21429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57616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Business Implications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2688336"/>
          <a:ext cx="3529584" cy="768096"/>
        </p:xfrm>
        <a:graphic>
          <a:graphicData uri="http://schemas.openxmlformats.org/drawingml/2006/table">
            <a:tbl>
              <a:tblPr/>
              <a:tblGrid>
                <a:gridCol w="1115568"/>
                <a:gridCol w="484632"/>
                <a:gridCol w="484632"/>
                <a:gridCol w="484632"/>
                <a:gridCol w="484632"/>
                <a:gridCol w="475488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03-Jan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10-Jan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24-Jan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07-Feb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21-Feb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Free Range Eggs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279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261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263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258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Organic Milk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336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292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289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274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Wheat Bread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295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284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263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259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253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Text 57"/>
          <p:cNvSpPr/>
          <p:nvPr/>
        </p:nvSpPr>
        <p:spPr>
          <a:xfrm>
            <a:off x="8321040" y="349300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units/week across all 3 supermarkets</a:t>
            </a:r>
            <a:endParaRPr lang="en-US" sz="700" dirty="0"/>
          </a:p>
        </p:txBody>
      </p:sp>
      <p:sp>
        <p:nvSpPr>
          <p:cNvPr id="67" name="Shape 58"/>
          <p:cNvSpPr/>
          <p:nvPr/>
        </p:nvSpPr>
        <p:spPr>
          <a:xfrm>
            <a:off x="8339328" y="3730752"/>
            <a:ext cx="349300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8321040" y="3858768"/>
            <a:ext cx="3529584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016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059936"/>
            <a:ext cx="310896" cy="310896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8778240" y="392277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Safety Stock</a:t>
            </a:r>
            <a:endParaRPr lang="en-US" sz="950" dirty="0"/>
          </a:p>
        </p:txBody>
      </p:sp>
      <p:sp>
        <p:nvSpPr>
          <p:cNvPr id="71" name="Text 61"/>
          <p:cNvSpPr/>
          <p:nvPr/>
        </p:nvSpPr>
        <p:spPr>
          <a:xfrm>
            <a:off x="8778240" y="41696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3.0% SMAPE, ~9 units buffer covers a 300-unit order. Planners can safely reduce over-stocking and cut write-offs.</a:t>
            </a:r>
            <a:endParaRPr lang="en-US" sz="780" dirty="0"/>
          </a:p>
        </p:txBody>
      </p:sp>
      <p:sp>
        <p:nvSpPr>
          <p:cNvPr id="72" name="Shape 62"/>
          <p:cNvSpPr/>
          <p:nvPr/>
        </p:nvSpPr>
        <p:spPr>
          <a:xfrm>
            <a:off x="8321040" y="4773168"/>
            <a:ext cx="3529584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974336"/>
            <a:ext cx="310896" cy="310896"/>
          </a:xfrm>
          <a:prstGeom prst="rect">
            <a:avLst/>
          </a:prstGeom>
        </p:spPr>
      </p:pic>
      <p:sp>
        <p:nvSpPr>
          <p:cNvPr id="74" name="Text 63"/>
          <p:cNvSpPr/>
          <p:nvPr/>
        </p:nvSpPr>
        <p:spPr>
          <a:xfrm>
            <a:off x="8778240" y="483717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Jan–Feb Softness</a:t>
            </a:r>
            <a:endParaRPr lang="en-US" sz="950" dirty="0"/>
          </a:p>
        </p:txBody>
      </p:sp>
      <p:sp>
        <p:nvSpPr>
          <p:cNvPr id="75" name="Text 64"/>
          <p:cNvSpPr/>
          <p:nvPr/>
        </p:nvSpPr>
        <p:spPr>
          <a:xfrm>
            <a:off x="8778240" y="50840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demand falls from 311 → 261 units/week across Jan. Scale deliveries down mid-January to avoid surplus.</a:t>
            </a:r>
            <a:endParaRPr lang="en-US" sz="780" dirty="0"/>
          </a:p>
        </p:txBody>
      </p:sp>
      <p:sp>
        <p:nvSpPr>
          <p:cNvPr id="76" name="Shape 65"/>
          <p:cNvSpPr/>
          <p:nvPr/>
        </p:nvSpPr>
        <p:spPr>
          <a:xfrm>
            <a:off x="8321040" y="5687568"/>
            <a:ext cx="3529584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0160">
            <a:solidFill>
              <a:srgbClr val="FCA5A5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pic>
        <p:nvPicPr>
          <p:cNvPr id="7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5888736"/>
            <a:ext cx="310896" cy="310896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8778240" y="575157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Organic Milk Closely</a:t>
            </a:r>
            <a:endParaRPr lang="en-US" sz="950" dirty="0"/>
          </a:p>
        </p:txBody>
      </p:sp>
      <p:sp>
        <p:nvSpPr>
          <p:cNvPr id="79" name="Text 67"/>
          <p:cNvSpPr/>
          <p:nvPr/>
        </p:nvSpPr>
        <p:spPr>
          <a:xfrm>
            <a:off x="8778240" y="59984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(274–407 u/wk) and widest forecast swing. Stock-out risk is greatest here — monitor weekly.</a:t>
            </a:r>
            <a:endParaRPr lang="en-US" sz="780" dirty="0"/>
          </a:p>
        </p:txBody>
      </p:sp>
      <p:sp>
        <p:nvSpPr>
          <p:cNvPr id="80" name="Shape 6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1" name="Text 69"/>
          <p:cNvSpPr/>
          <p:nvPr/>
        </p:nvSpPr>
        <p:spPr>
          <a:xfrm>
            <a:off x="228600" y="6684264"/>
            <a:ext cx="1170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Gradient Boosting (500 trees, lr=0.04)  ·  Features: Lags 1–52 wk, Rolling Stats, Cyclical Seasonality, Promotion Flag  ·  Validation: Walk-forward CV (retrain each origin)  ·  Forecast: Recursive multi-step — no future data used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2026-06-27T18:50:52Z</dcterms:created>
  <dcterms:modified xsi:type="dcterms:W3CDTF">2026-06-27T18:50:52Z</dcterms:modified>
</cp:coreProperties>
</file>